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592380c2b84850" /><Relationship Type="http://schemas.openxmlformats.org/officeDocument/2006/relationships/extended-properties" Target="/docProps/app.xml" Id="R9f9664e0e22b474d" /><Relationship Type="http://schemas.openxmlformats.org/officeDocument/2006/relationships/officeDocument" Target="/ppt/presentation.xml" Id="R62225a35a03d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d70cb50eb841bb"/>
  </p:sldMasterIdLst>
  <p:notesMasterIdLst>
    <p:notesMasterId xmlns:r="http://schemas.openxmlformats.org/officeDocument/2006/relationships" r:id="Rb4b3617355b247ea"/>
  </p:notesMasterIdLst>
  <p:sldIdLst>
    <p:sldId xmlns:r="http://schemas.openxmlformats.org/officeDocument/2006/relationships" id="256" r:id="R3ca456f5ed2e41ca"/>
    <p:sldId xmlns:r="http://schemas.openxmlformats.org/officeDocument/2006/relationships" id="257" r:id="Rd823f2442f4a414b"/>
    <p:sldId xmlns:r="http://schemas.openxmlformats.org/officeDocument/2006/relationships" id="258" r:id="Rc0b8aea9f13848ad"/>
    <p:sldId xmlns:r="http://schemas.openxmlformats.org/officeDocument/2006/relationships" id="259" r:id="R2e83ebf1cc8343eb"/>
    <p:sldId xmlns:r="http://schemas.openxmlformats.org/officeDocument/2006/relationships" id="260" r:id="Rb5c2db34d5284693"/>
    <p:sldId xmlns:r="http://schemas.openxmlformats.org/officeDocument/2006/relationships" id="261" r:id="Rc8792df3c2e04b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702e223edf4e6a" /><Relationship Type="http://schemas.openxmlformats.org/officeDocument/2006/relationships/slideMaster" Target="/ppt/slideMasters/slideMaster1.xml" Id="R37d70cb50eb841bb" /><Relationship Type="http://schemas.openxmlformats.org/officeDocument/2006/relationships/notesMaster" Target="/ppt/notesMasters/notesMaster1.xml" Id="Rb4b3617355b247ea" /><Relationship Type="http://schemas.openxmlformats.org/officeDocument/2006/relationships/presProps" Target="/ppt/presProps.xml" Id="R6d86c39dd31a4e71" /><Relationship Type="http://schemas.openxmlformats.org/officeDocument/2006/relationships/tableStyles" Target="/ppt/tableStyles.xml" Id="R7277fc89db94472d" /><Relationship Type="http://schemas.openxmlformats.org/officeDocument/2006/relationships/slide" Target="/ppt/slides/slide1.xml" Id="R3ca456f5ed2e41ca" /><Relationship Type="http://schemas.openxmlformats.org/officeDocument/2006/relationships/slide" Target="/ppt/slides/slide2.xml" Id="Rd823f2442f4a414b" /><Relationship Type="http://schemas.openxmlformats.org/officeDocument/2006/relationships/slide" Target="/ppt/slides/slide3.xml" Id="Rc0b8aea9f13848ad" /><Relationship Type="http://schemas.openxmlformats.org/officeDocument/2006/relationships/slide" Target="/ppt/slides/slide4.xml" Id="R2e83ebf1cc8343eb" /><Relationship Type="http://schemas.openxmlformats.org/officeDocument/2006/relationships/slide" Target="/ppt/slides/slide5.xml" Id="Rb5c2db34d5284693" /><Relationship Type="http://schemas.openxmlformats.org/officeDocument/2006/relationships/slide" Target="/ppt/slides/slide6.xml" Id="Rc8792df3c2e04b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5bd87fadf4d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1b750547c34cc8" /><Relationship Type="http://schemas.openxmlformats.org/officeDocument/2006/relationships/notesMaster" Target="/ppt/notesMasters/notesMaster1.xml" Id="Rb79e7611b1bf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5d7e773d714cd7" /><Relationship Type="http://schemas.openxmlformats.org/officeDocument/2006/relationships/notesMaster" Target="/ppt/notesMasters/notesMaster1.xml" Id="R995dc0bcde6e45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fe0b0789a648c6" /><Relationship Type="http://schemas.openxmlformats.org/officeDocument/2006/relationships/notesMaster" Target="/ppt/notesMasters/notesMaster1.xml" Id="R25d435648a64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c85eb769044cc" /><Relationship Type="http://schemas.openxmlformats.org/officeDocument/2006/relationships/notesMaster" Target="/ppt/notesMasters/notesMaster1.xml" Id="R3801dc68827f47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a4e4980c04b32" /><Relationship Type="http://schemas.openxmlformats.org/officeDocument/2006/relationships/notesMaster" Target="/ppt/notesMasters/notesMaster1.xml" Id="R287d79977da542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d0c8b43d334b40" /><Relationship Type="http://schemas.openxmlformats.org/officeDocument/2006/relationships/notesMaster" Target="/ppt/notesMasters/notesMaster1.xml" Id="Rb132175f497249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研究來源：https://journals.plos.org/plosone/article?id=10.1371/journal.pone.0182869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https://acp.copernicus.org/articles/14/1485/2014/</a:t>
            </a:r>
          </a:p>
          <a:p xmlns:a="http://schemas.openxmlformats.org/drawingml/2006/main">
            <a:r>
              <a:t>https://www.frontiersin.org/journals/microbiology/articles/10.3389/fmicb.2016.00772/full</a:t>
            </a:r>
          </a:p>
          <a:p xmlns:a="http://schemas.openxmlformats.org/drawingml/2006/main">
            <a:r>
              <a:t>https://weather.metoffice.gov.uk/learn-about/weather/how-weather-works/water-cycle</a:t>
            </a:r>
          </a:p>
          <a:p xmlns:a="http://schemas.openxmlformats.org/drawingml/2006/main">
            <a:r>
              <a:t>封面照片：NASA/JSC，ISS066-E-37532，北大西洋。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研究來源：https://journals.plos.org/plosone/article?id=10.1371/journal.pone.0182869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https://acp.copernicus.org/articles/14/1485/2014/</a:t>
            </a:r>
          </a:p>
          <a:p xmlns:a="http://schemas.openxmlformats.org/drawingml/2006/main">
            <a:r>
              <a:t>https://www.frontiersin.org/journals/microbiology/articles/10.3389/fmicb.2016.00772/full</a:t>
            </a:r>
          </a:p>
          <a:p xmlns:a="http://schemas.openxmlformats.org/drawingml/2006/main">
            <a:r>
              <a:t>https://weather.metoffice.gov.uk/learn-about/weather/how-weather-works/water-cycle</a:t>
            </a:r>
          </a:p>
          <a:p xmlns:a="http://schemas.openxmlformats.org/drawingml/2006/main">
            <a:r>
              <a:t>封面照片：NASA/JSC，ISS066-E-37532，北大西洋。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研究來源：https://journals.plos.org/plosone/article?id=10.1371/journal.pone.0182869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https://acp.copernicus.org/articles/14/1485/2014/</a:t>
            </a:r>
          </a:p>
          <a:p xmlns:a="http://schemas.openxmlformats.org/drawingml/2006/main">
            <a:r>
              <a:t>https://www.frontiersin.org/journals/microbiology/articles/10.3389/fmicb.2016.00772/full</a:t>
            </a:r>
          </a:p>
          <a:p xmlns:a="http://schemas.openxmlformats.org/drawingml/2006/main">
            <a:r>
              <a:t>https://weather.metoffice.gov.uk/learn-about/weather/how-weather-works/water-cycle</a:t>
            </a:r>
          </a:p>
          <a:p xmlns:a="http://schemas.openxmlformats.org/drawingml/2006/main">
            <a:r>
              <a:t>封面照片：NASA/JSC，ISS066-E-37532，北大西洋。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研究來源：https://journals.plos.org/plosone/article?id=10.1371/journal.pone.0182869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https://acp.copernicus.org/articles/14/1485/2014/</a:t>
            </a:r>
          </a:p>
          <a:p xmlns:a="http://schemas.openxmlformats.org/drawingml/2006/main">
            <a:r>
              <a:t>https://www.frontiersin.org/journals/microbiology/articles/10.3389/fmicb.2016.00772/full</a:t>
            </a:r>
          </a:p>
          <a:p xmlns:a="http://schemas.openxmlformats.org/drawingml/2006/main">
            <a:r>
              <a:t>https://weather.metoffice.gov.uk/learn-about/weather/how-weather-works/water-cycle</a:t>
            </a:r>
          </a:p>
          <a:p xmlns:a="http://schemas.openxmlformats.org/drawingml/2006/main">
            <a:r>
              <a:t>封面照片：NASA/JSC，ISS066-E-37532，北大西洋。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研究來源：https://journals.plos.org/plosone/article?id=10.1371/journal.pone.0182869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https://acp.copernicus.org/articles/14/1485/2014/</a:t>
            </a:r>
          </a:p>
          <a:p xmlns:a="http://schemas.openxmlformats.org/drawingml/2006/main">
            <a:r>
              <a:t>https://www.frontiersin.org/journals/microbiology/articles/10.3389/fmicb.2016.00772/full</a:t>
            </a:r>
          </a:p>
          <a:p xmlns:a="http://schemas.openxmlformats.org/drawingml/2006/main">
            <a:r>
              <a:t>https://weather.metoffice.gov.uk/learn-about/weather/how-weather-works/water-cycle</a:t>
            </a:r>
          </a:p>
          <a:p xmlns:a="http://schemas.openxmlformats.org/drawingml/2006/main">
            <a:r>
              <a:t>封面照片：NASA/JSC，ISS066-E-37532，北大西洋。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研究來源：https://journals.plos.org/plosone/article?id=10.1371/journal.pone.0182869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https://acp.copernicus.org/articles/14/1485/2014/</a:t>
            </a:r>
          </a:p>
          <a:p xmlns:a="http://schemas.openxmlformats.org/drawingml/2006/main">
            <a:r>
              <a:t>https://www.frontiersin.org/journals/microbiology/articles/10.3389/fmicb.2016.00772/full</a:t>
            </a:r>
          </a:p>
          <a:p xmlns:a="http://schemas.openxmlformats.org/drawingml/2006/main">
            <a:r>
              <a:t>https://weather.metoffice.gov.uk/learn-about/weather/how-weather-works/water-cycle</a:t>
            </a:r>
          </a:p>
          <a:p xmlns:a="http://schemas.openxmlformats.org/drawingml/2006/main">
            <a:r>
              <a:t>封面照片：NASA/JSC，ISS066-E-37532，北大西洋。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e0e7143cc43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a162ed592142bb" /><Relationship Type="http://schemas.openxmlformats.org/officeDocument/2006/relationships/slideLayout" Target="/ppt/slideLayouts/slideLayout1.xml" Id="R0ade909f9027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de909f9027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38532d49f4d93" /><Relationship Type="http://schemas.openxmlformats.org/officeDocument/2006/relationships/image" Target="/ppt/media/image.jpeg" Id="R73954c0ab89e431d" /><Relationship Type="http://schemas.openxmlformats.org/officeDocument/2006/relationships/notesSlide" Target="/ppt/notesSlides/notesSlide1.xml" Id="R340fde558e2d41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cc95cb0134ab5" /><Relationship Type="http://schemas.openxmlformats.org/officeDocument/2006/relationships/notesSlide" Target="/ppt/notesSlides/notesSlide2.xml" Id="R0c99e2fb73ec4f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e8f2b65644027" /><Relationship Type="http://schemas.openxmlformats.org/officeDocument/2006/relationships/notesSlide" Target="/ppt/notesSlides/notesSlide3.xml" Id="R447ae7c472194f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0832304d84d92" /><Relationship Type="http://schemas.openxmlformats.org/officeDocument/2006/relationships/notesSlide" Target="/ppt/notesSlides/notesSlide4.xml" Id="R4d2681e5f464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9c1bd51a94f49" /><Relationship Type="http://schemas.openxmlformats.org/officeDocument/2006/relationships/notesSlide" Target="/ppt/notesSlides/notesSlide5.xml" Id="Reb0b2ec830e34a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4cb108a09453c" /><Relationship Type="http://schemas.openxmlformats.org/officeDocument/2006/relationships/notesSlide" Target="/ppt/notesSlides/notesSlide6.xml" Id="Rfde204f298144f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54c0ab89e431d"/>
          <a:srcRect xmlns:a="http://schemas.openxmlformats.org/drawingml/2006/main" l="23904" t="0" r="239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F9F3B-B60A-4F9E-8826-8882894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DC1D5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ADC1D5"/>
                </a:solidFill>
                <a:latin typeface="Heiti TC"/>
                <a:ea typeface="Heiti TC"/>
                <a:cs typeface="Heiti TC"/>
              </a:rPr>
              <a:t>M1 / 世界研究     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DCFE0-6B5D-40B6-878B-FCDAC19A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5191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會下雨的</a:t>
            </a:r>
          </a:p>
          <a:p xmlns:a="http://schemas.openxmlformats.org/drawingml/2006/main">
            <a:pPr>
              <a:buNone/>
              <a:defRPr sz="4950" b="1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漂浮花園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46B8C-D2D0-4D50-904A-17025C6E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人類消失後 500 年</a:t>
            </a:r>
          </a:p>
          <a:p xmlns:a="http://schemas.openxmlformats.org/drawingml/2006/main">
            <a:pPr>
              <a:buNone/>
              <a:defRPr sz="217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法國多姆山的低層雲霧帶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62266-A994-41F8-A71F-69BCC2FA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9C7D8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B9C7D8"/>
                </a:solidFill>
                <a:latin typeface="Heiti TC"/>
                <a:ea typeface="Heiti TC"/>
                <a:cs typeface="Heiti TC"/>
              </a:rPr>
              <a:t>花園隨著雲移動，</a:t>
            </a:r>
          </a:p>
          <a:p xmlns:a="http://schemas.openxmlformats.org/drawingml/2006/main">
            <a:pPr>
              <a:buNone/>
              <a:defRPr sz="2025" b="0">
                <a:solidFill>
                  <a:srgbClr val="B9C7D8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B9C7D8"/>
                </a:solidFill>
                <a:latin typeface="Heiti TC"/>
                <a:ea typeface="Heiti TC"/>
                <a:cs typeface="Heiti TC"/>
              </a:rPr>
              <a:t>也隨著雨散開。</a:t>
            </a:r>
          </a:p>
          <a:p xmlns:a="http://schemas.openxmlformats.org/drawingml/2006/main">
            <a:pPr>
              <a:buNone/>
              <a:defRPr sz="2025" b="0">
                <a:solidFill>
                  <a:srgbClr val="B9C7D8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B9C7D8"/>
                </a:solidFill>
                <a:latin typeface="Heiti TC"/>
                <a:ea typeface="Heiti TC"/>
                <a:cs typeface="Heiti TC"/>
              </a:rPr>
              <a:t>生命得適應短暫的棲地。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CC63D-1770-41AD-ADF4-8AFA5328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8A9B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98A9BA"/>
                </a:solidFill>
                <a:latin typeface="Heiti TC"/>
                <a:ea typeface="Heiti TC"/>
                <a:cs typeface="Heiti TC"/>
              </a:rPr>
              <a:t>雲景參考：NASA/JSC，北大西洋</a:t>
            </a:r>
          </a:p>
        </p:txBody>
      </p:sp>
    </p:spTree>
    <p:extLst>
      <p:ext uri="{BB962C8B-B14F-4D97-AF65-F5344CB8AC3E}">
        <p14:creationId xmlns:p14="http://schemas.microsoft.com/office/powerpoint/2010/main" val="665950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0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6A9BD-A76B-4481-9B53-430BB343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M1 / 後未來動物園     時間與棲地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B5B09-C617-4304-8A4F-F7DAE24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0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3900" b="0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花園可以離開原來的位置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1B719-0ACD-4A38-AD28-41FA92B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ys  /  2026.10.01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69713-0284-483C-881B-5771375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2C9BA-2888-41EF-8383-AE83FFF0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62175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「花園可能不在原處，</a:t>
            </a:r>
          </a:p>
          <a:p xmlns:a="http://schemas.openxmlformats.org/drawingml/2006/main">
            <a:pPr>
              <a:buNone/>
              <a:defRPr sz="2400" b="0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也可能會自由移動。」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86959-ED5A-47A7-84B1-37FAE16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766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這是我選擇這個世界的原因。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EF28D-E9BD-44B4-8FB5-4504AE7E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5687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5687E"/>
                </a:solidFill>
                <a:latin typeface="Heiti TC"/>
                <a:ea typeface="Heiti TC"/>
                <a:cs typeface="Heiti TC"/>
              </a:rPr>
              <a:t>透明薄膜、結晶</a:t>
            </a:r>
          </a:p>
          <a:p xmlns:a="http://schemas.openxmlformats.org/drawingml/2006/main">
            <a:pPr>
              <a:buNone/>
              <a:defRPr sz="2100" b="0">
                <a:solidFill>
                  <a:srgbClr val="55687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5687E"/>
                </a:solidFill>
                <a:latin typeface="Heiti TC"/>
                <a:ea typeface="Heiti TC"/>
                <a:cs typeface="Heiti TC"/>
              </a:rPr>
              <a:t>漂浮、忽明忽暗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2932B-A85F-4C01-9E45-68F1035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24075"/>
            <a:ext cx="566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人類消失後 500 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E6464-D35F-4808-B6BE-D15E0AE0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我把故事放在人類離開五百年之後。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DE3AF-F0A7-40E8-9680-28A0E2B6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566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多姆山的雲霧與山坡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2E0FF-BB77-4C05-9455-A6E5F44F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99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這裡的雲水研究站海拔 1465 公尺。[1][3]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07FE8-D149-48A2-9F31-976BAB7D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00525"/>
            <a:ext cx="566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涼濕、光線忽明忽暗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3B78B-6631-4F55-AFD9-D6CC3123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我想讓花園出現在接近冰點到 10°C 的雲霧裡。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3CFD6-3FFF-466B-8A4E-4B3AA4A9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0"/>
            <a:ext cx="566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地面留下人類的痕跡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8F3F3-FCE1-42A7-95B8-37557DC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8642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玻璃、陶瓷碎片和舊設施成為場景的一部分。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1596301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D4611-E058-4E05-80EB-F1EECE37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M1 / 後未來動物園     雲中的生命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A0607-471C-43D3-987C-E26FDB8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3900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雲裡也有微生物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B5677-D70D-458A-9D3F-A8567091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ys  /  2026.10.01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6BD2D-78C3-4EC4-8733-FADBBD4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E3B43-15B9-4417-9AD3-A2F228E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BED3E8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BED3E8"/>
                </a:solidFill>
                <a:latin typeface="Heiti TC"/>
                <a:ea typeface="Heiti TC"/>
                <a:cs typeface="Heiti TC"/>
              </a:rPr>
              <a:t>雲水中的生命活動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3525D-360E-47FB-B7DB-B8FF5752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49339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研究在多姆山的雲水裡，</a:t>
            </a:r>
          </a:p>
          <a:p xmlns:a="http://schemas.openxmlformats.org/drawingml/2006/main">
            <a:pPr>
              <a:buNone/>
              <a:defRPr sz="20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找到微生物活動的跡象。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這讓雲成為生命可能停留的地方。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48BCC-3FF7-4188-BD71-7154A98C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4933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95A6B9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95A6B9"/>
                </a:solidFill>
                <a:latin typeface="Heiti TC"/>
                <a:ea typeface="Heiti TC"/>
                <a:cs typeface="Heiti TC"/>
              </a:rPr>
              <a:t>Amato et al., 2017 [1]</a:t>
            </a:r>
          </a:p>
          <a:p xmlns:a="http://schemas.openxmlformats.org/drawingml/2006/main">
            <a:pPr>
              <a:buNone/>
              <a:defRPr sz="1425" b="0">
                <a:solidFill>
                  <a:srgbClr val="95A6B9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95A6B9"/>
                </a:solidFill>
                <a:latin typeface="Heiti TC"/>
                <a:ea typeface="Heiti TC"/>
                <a:cs typeface="Heiti TC"/>
              </a:rPr>
              <a:t>Klein et al., 2016 [4]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D7807-3ED2-46F2-910B-7BEBEBE7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8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BED3E8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BED3E8"/>
                </a:solidFill>
                <a:latin typeface="Heiti TC"/>
                <a:ea typeface="Heiti TC"/>
                <a:cs typeface="Heiti TC"/>
              </a:rPr>
              <a:t>低溫與乾濕變化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355A0-4F83-4B69-9EFD-F766ABDD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43225"/>
            <a:ext cx="49339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研究發現微生物具有抗氧化、</a:t>
            </a:r>
          </a:p>
          <a:p xmlns:a="http://schemas.openxmlformats.org/drawingml/2006/main">
            <a:pPr>
              <a:buNone/>
              <a:defRPr sz="20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耐冷與調節滲透條件的功能。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雲中的生活也需要抵抗環境壓力。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B9D6D-090F-4B63-A59B-C17B5DBD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48250"/>
            <a:ext cx="4933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95A6B9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95A6B9"/>
                </a:solidFill>
                <a:latin typeface="Heiti TC"/>
                <a:ea typeface="Heiti TC"/>
                <a:cs typeface="Heiti TC"/>
              </a:rPr>
              <a:t>Amato et al., 2019 [2]</a:t>
            </a:r>
          </a:p>
        </p:txBody>
      </p:sp>
    </p:spTree>
    <p:extLst>
      <p:ext uri="{BB962C8B-B14F-4D97-AF65-F5344CB8AC3E}">
        <p14:creationId xmlns:p14="http://schemas.microsoft.com/office/powerpoint/2010/main" val="766916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F0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5D666-106E-429B-9156-8D8615E7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M1 / 後未來動物園     水與環境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FFB4D-0C38-4633-A55F-16FDF4BB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0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3900" b="0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花園會隨著雨改變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84E17-3713-4FA3-B851-F310A7B9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ys  /  2026.10.01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AF609-F75F-40A9-AE4B-7EBCDD70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95537-E286-4B9E-BAEE-251E3FD0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5286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雲水的成分會改變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6AF30-A352-4DB5-AAB8-8AAB6065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5238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多姆山十年的雲水研究顯示，</a:t>
            </a:r>
          </a:p>
          <a:p xmlns:a="http://schemas.openxmlformats.org/drawingml/2006/main">
            <a:pPr>
              <a:buNone/>
              <a:defRPr sz="1875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不同氣團帶來的雲，</a:t>
            </a:r>
          </a:p>
          <a:p xmlns:a="http://schemas.openxmlformats.org/drawingml/2006/main">
            <a:pPr>
              <a:buNone/>
              <a:defRPr sz="1875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酸鹼與離子成分也不一樣。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CD56B-B9EB-4DAF-AF8C-A47C893D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Deguillaume et al., 2014 [3]</a:t>
            </a:r>
          </a:p>
          <a:p xmlns:a="http://schemas.openxmlformats.org/drawingml/2006/main">
            <a:pPr>
              <a:buNone/>
              <a:defRPr sz="1425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2001–2011 年多姆山監測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C69E1-1901-4762-8968-6B16A2FD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71700"/>
            <a:ext cx="466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475" b="1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雲滴聚在一起，變成雨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CA427-FBE8-469D-BD09-E34E8B3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670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雲滴合併長大後，可以形成降水。</a:t>
            </a:r>
          </a:p>
          <a:p xmlns:a="http://schemas.openxmlformats.org/drawingml/2006/main">
            <a:pPr>
              <a:buNone/>
              <a:defRPr sz="1950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我想把這個過程放進花園，</a:t>
            </a:r>
          </a:p>
          <a:p xmlns:a="http://schemas.openxmlformats.org/drawingml/2006/main">
            <a:pPr>
              <a:buNone/>
              <a:defRPr sz="1950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讓它有聚集，也有散開和墜落。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A1D94-9A15-4C51-8743-6DE97DCD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196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Met Office：The water cycle [5]</a:t>
            </a:r>
          </a:p>
        </p:txBody>
      </p:sp>
    </p:spTree>
    <p:extLst>
      <p:ext uri="{BB962C8B-B14F-4D97-AF65-F5344CB8AC3E}">
        <p14:creationId xmlns:p14="http://schemas.microsoft.com/office/powerpoint/2010/main" val="1162198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86256-9445-4C05-9ABD-BC59FC63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M1 / 後未來動物園     花園的樣子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C1AC8-4CB1-42C7-9AAF-266C7635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3900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我想呈現的漂浮花園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9119E-89F1-42B1-BE7F-4D939243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ys  /  2026.10.01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4F0C5-8A25-444F-A07F-7DE03830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0702C-F7B1-4B1C-83C3-CD57314C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8BDD2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A8BDD2"/>
                </a:solidFill>
                <a:latin typeface="Heiti TC"/>
                <a:ea typeface="Heiti TC"/>
                <a:cs typeface="Heiti TC"/>
              </a:rPr>
              <a:t>材質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B989D-C247-41EC-93BC-23E99A4F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362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透明、脆弱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ECFA1-9247-4B95-A67D-E0D95AE2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33623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我想用透明薄膜和結晶，</a:t>
            </a:r>
          </a:p>
          <a:p xmlns:a="http://schemas.openxmlformats.org/drawingml/2006/main">
            <a:pPr>
              <a:buNone/>
              <a:defRPr sz="17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讓花園看起來輕薄、脆弱。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C8B53-8D0D-455E-96B9-4C5EB3A2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8BDD2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A8BDD2"/>
                </a:solidFill>
                <a:latin typeface="Heiti TC"/>
                <a:ea typeface="Heiti TC"/>
                <a:cs typeface="Heiti TC"/>
              </a:rPr>
              <a:t>動態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A94DB-127C-4E8B-B9F3-1B4F07F6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62275"/>
            <a:ext cx="3362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漂移、聚散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77ADB-D32B-4F05-A93E-14886715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33623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花園可以離開原來的位置，</a:t>
            </a:r>
          </a:p>
          <a:p xmlns:a="http://schemas.openxmlformats.org/drawingml/2006/main">
            <a:pPr>
              <a:buNone/>
              <a:defRPr sz="17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隨雲移動，再隨雨散開。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DD039-6D01-4CC6-AE9D-45692948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8BDD2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A8BDD2"/>
                </a:solidFill>
                <a:latin typeface="Heiti TC"/>
                <a:ea typeface="Heiti TC"/>
                <a:cs typeface="Heiti TC"/>
              </a:rPr>
              <a:t>氣氛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F81FA-E94D-4B8E-A6F2-840BEC5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62275"/>
            <a:ext cx="3362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夢幻又詭異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7FB5B-6D44-4B99-8FAE-17F87C03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33623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光線忽明忽暗，</a:t>
            </a:r>
          </a:p>
          <a:p xmlns:a="http://schemas.openxmlformats.org/drawingml/2006/main">
            <a:pPr>
              <a:buNone/>
              <a:defRPr sz="1725" b="0">
                <a:solidFill>
                  <a:srgbClr val="E9EDF1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E9EDF1"/>
                </a:solidFill>
                <a:latin typeface="Heiti TC"/>
                <a:ea typeface="Heiti TC"/>
                <a:cs typeface="Heiti TC"/>
              </a:rPr>
              <a:t>花園的輪廓也跟著變得模糊。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1F4CE-292A-42BE-A8A5-9B6D2E58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DD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A8BDD2"/>
                </a:solidFill>
                <a:latin typeface="Heiti TC"/>
                <a:ea typeface="Heiti TC"/>
                <a:cs typeface="Heiti TC"/>
              </a:rPr>
              <a:t>目前的構想以花園整體的環境、材質與移動方式為主。</a:t>
            </a:r>
          </a:p>
        </p:txBody>
      </p:sp>
    </p:spTree>
    <p:extLst>
      <p:ext uri="{BB962C8B-B14F-4D97-AF65-F5344CB8AC3E}">
        <p14:creationId xmlns:p14="http://schemas.microsoft.com/office/powerpoint/2010/main" val="2122564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F0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EED80-75F6-432D-8B84-1E7ED0E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M1 / 後未來動物園     作品方向與參考資料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32D37-0F38-4673-B1EF-36BE2359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0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3900" b="0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一座不固定在原地的花園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0AB49-CDCF-4B32-9CB2-CBACD522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ys  /  2026.10.01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27D58-9C2E-4C1A-8616-A5E88A01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818F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818F9F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A4EF2-F659-4DA6-9982-348C49B2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最吸引我的是它可以自由移動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401A2-347F-44A0-8B18-E6A1A8CA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90825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我喜歡花園不必停在同一個地方，</a:t>
            </a:r>
          </a:p>
          <a:p xmlns:a="http://schemas.openxmlformats.org/drawingml/2006/main">
            <a:pPr>
              <a:buNone/>
              <a:defRPr sz="1875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而是隨著環境改變的想像。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雲滴的聚散和降雨，</a:t>
            </a:r>
          </a:p>
          <a:p xmlns:a="http://schemas.openxmlformats.org/drawingml/2006/main">
            <a:pPr>
              <a:buNone/>
              <a:defRPr sz="1875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成為這個世界的動態參考。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BA144-E02C-4C2F-A1AD-237FD1E8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571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目前已整理世界的環境研究，</a:t>
            </a:r>
          </a:p>
          <a:p xmlns:a="http://schemas.openxmlformats.org/drawingml/2006/main">
            <a:pPr>
              <a:buNone/>
              <a:defRPr sz="1950" b="0">
                <a:solidFill>
                  <a:srgbClr val="3D4F61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D4F61"/>
                </a:solidFill>
                <a:latin typeface="Heiti TC"/>
                <a:ea typeface="Heiti TC"/>
                <a:cs typeface="Heiti TC"/>
              </a:rPr>
              <a:t>以及想用在建模與動態中的方向。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94A21-AB03-4F55-9AFD-E4A534D2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66925"/>
            <a:ext cx="441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5303B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25303B"/>
                </a:solidFill>
                <a:latin typeface="Heiti TC"/>
                <a:ea typeface="Heiti TC"/>
                <a:cs typeface="Heiti TC"/>
              </a:rPr>
              <a:t>參考資料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A0134-35F8-4BF8-8C26-C36DE094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4419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[1] Amato et al. 2017 · PLOS ONE</a:t>
            </a:r>
          </a:p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10.1371/journal.pone.0182869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EBA2A-B3E3-45EF-820E-BDA29346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9925"/>
            <a:ext cx="4419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[2] Amato et al. 2019 · Sci. Rep.</a:t>
            </a:r>
          </a:p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10.1038/s41598-019-41032-4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92B84-2851-4D2A-8B6B-57BDC3BA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4419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[3] Deguillaume et al. 2014 · ACP</a:t>
            </a:r>
          </a:p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10.5194/acp-14-1485-2014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9117F-7BE6-4EE6-BB76-09E6F73B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86275"/>
            <a:ext cx="4419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[4] Klein et al. 2016 · Front. Microbiol.</a:t>
            </a:r>
          </a:p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10.3389/fmicb.2016.00772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61B24-7B49-4B64-A9BD-1DD1098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24450"/>
            <a:ext cx="4419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[5] Met Office</a:t>
            </a:r>
          </a:p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The water cycle</a:t>
            </a:r>
          </a:p>
          <a:p xmlns:a="http://schemas.openxmlformats.org/drawingml/2006/main">
            <a:pPr>
              <a:buNone/>
              <a:defRPr sz="1350" b="0">
                <a:solidFill>
                  <a:srgbClr val="657282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57282"/>
                </a:solidFill>
                <a:latin typeface="Heiti TC"/>
                <a:ea typeface="Heiti TC"/>
                <a:cs typeface="Heiti TC"/>
              </a:rPr>
              <a:t>完整來源收錄於世界觀研究報告。</a:t>
            </a:r>
          </a:p>
        </p:txBody>
      </p:sp>
    </p:spTree>
    <p:extLst>
      <p:ext uri="{BB962C8B-B14F-4D97-AF65-F5344CB8AC3E}">
        <p14:creationId xmlns:p14="http://schemas.microsoft.com/office/powerpoint/2010/main" val="1795794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2026-09-29T09:00:52.7280000Z</dcterms:created>
  <dcterms:modified xsi:type="dcterms:W3CDTF">2026-09-29T09:00:52.7280000Z</dcterms:modified>
</coreProperties>
</file>