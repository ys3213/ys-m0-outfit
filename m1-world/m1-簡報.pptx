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033a17adb74c18" /><Relationship Type="http://schemas.openxmlformats.org/officeDocument/2006/relationships/extended-properties" Target="/docProps/app.xml" Id="R993681fa96c144c3" /><Relationship Type="http://schemas.openxmlformats.org/officeDocument/2006/relationships/officeDocument" Target="/ppt/presentation.xml" Id="Rb96964ceb6f24c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a0c7a8daec4fa3"/>
  </p:sldMasterIdLst>
  <p:notesMasterIdLst>
    <p:notesMasterId xmlns:r="http://schemas.openxmlformats.org/officeDocument/2006/relationships" r:id="R6127fcd9120e46f0"/>
  </p:notesMasterIdLst>
  <p:sldIdLst>
    <p:sldId xmlns:r="http://schemas.openxmlformats.org/officeDocument/2006/relationships" id="256" r:id="Rc0d64c9e33b74434"/>
    <p:sldId xmlns:r="http://schemas.openxmlformats.org/officeDocument/2006/relationships" id="257" r:id="Rad036243e2b84e46"/>
    <p:sldId xmlns:r="http://schemas.openxmlformats.org/officeDocument/2006/relationships" id="258" r:id="R4103cdd6d4d7455b"/>
    <p:sldId xmlns:r="http://schemas.openxmlformats.org/officeDocument/2006/relationships" id="259" r:id="R686480f26eab47fe"/>
    <p:sldId xmlns:r="http://schemas.openxmlformats.org/officeDocument/2006/relationships" id="260" r:id="R7c28ca9969f04959"/>
    <p:sldId xmlns:r="http://schemas.openxmlformats.org/officeDocument/2006/relationships" id="261" r:id="R1c692f9efc8844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1a40fd797346da" /><Relationship Type="http://schemas.openxmlformats.org/officeDocument/2006/relationships/slideMaster" Target="/ppt/slideMasters/slideMaster1.xml" Id="Re9a0c7a8daec4fa3" /><Relationship Type="http://schemas.openxmlformats.org/officeDocument/2006/relationships/notesMaster" Target="/ppt/notesMasters/notesMaster1.xml" Id="R6127fcd9120e46f0" /><Relationship Type="http://schemas.openxmlformats.org/officeDocument/2006/relationships/presProps" Target="/ppt/presProps.xml" Id="Rc6d17abc904d48ee" /><Relationship Type="http://schemas.openxmlformats.org/officeDocument/2006/relationships/tableStyles" Target="/ppt/tableStyles.xml" Id="R76bf2532e3044112" /><Relationship Type="http://schemas.openxmlformats.org/officeDocument/2006/relationships/slide" Target="/ppt/slides/slide1.xml" Id="Rc0d64c9e33b74434" /><Relationship Type="http://schemas.openxmlformats.org/officeDocument/2006/relationships/slide" Target="/ppt/slides/slide2.xml" Id="Rad036243e2b84e46" /><Relationship Type="http://schemas.openxmlformats.org/officeDocument/2006/relationships/slide" Target="/ppt/slides/slide3.xml" Id="R4103cdd6d4d7455b" /><Relationship Type="http://schemas.openxmlformats.org/officeDocument/2006/relationships/slide" Target="/ppt/slides/slide4.xml" Id="R686480f26eab47fe" /><Relationship Type="http://schemas.openxmlformats.org/officeDocument/2006/relationships/slide" Target="/ppt/slides/slide5.xml" Id="R7c28ca9969f04959" /><Relationship Type="http://schemas.openxmlformats.org/officeDocument/2006/relationships/slide" Target="/ppt/slides/slide6.xml" Id="R1c692f9efc8844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cc0f060b7148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2bf9c34495423a" /><Relationship Type="http://schemas.openxmlformats.org/officeDocument/2006/relationships/notesMaster" Target="/ppt/notesMasters/notesMaster1.xml" Id="Rc2c996c3877943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21c461218241f4" /><Relationship Type="http://schemas.openxmlformats.org/officeDocument/2006/relationships/notesMaster" Target="/ppt/notesMasters/notesMaster1.xml" Id="R1ed8ae9aeb5747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78680baa0246b5" /><Relationship Type="http://schemas.openxmlformats.org/officeDocument/2006/relationships/notesMaster" Target="/ppt/notesMasters/notesMaster1.xml" Id="R9b2fd94b35aa49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f1452fed274211" /><Relationship Type="http://schemas.openxmlformats.org/officeDocument/2006/relationships/notesMaster" Target="/ppt/notesMasters/notesMaster1.xml" Id="R7992bc5de40d4f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9b4874b06c4429" /><Relationship Type="http://schemas.openxmlformats.org/officeDocument/2006/relationships/notesMaster" Target="/ppt/notesMasters/notesMaster1.xml" Id="R2a224ec9101241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caad3047b34e1f" /><Relationship Type="http://schemas.openxmlformats.org/officeDocument/2006/relationships/notesMaster" Target="/ppt/notesMasters/notesMaster1.xml" Id="R3c8b0bea48fc4f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來源、研究限制及完整網址見 m1-world/world-research.md。圖像出處見 references/README.md。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來源、研究限制及完整網址見 m1-world/world-research.md。圖像出處見 references/README.md。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來源、研究限制及完整網址見 m1-world/world-research.md。圖像出處見 references/README.md。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來源、研究限制及完整網址見 m1-world/world-research.md。圖像出處見 references/README.md。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來源、研究限制及完整網址見 m1-world/world-research.md。圖像出處見 references/README.md。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來源、研究限制及完整網址見 m1-world/world-research.md。圖像出處見 references/README.md。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8c1496a78f44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17ea90d27b4a83" /><Relationship Type="http://schemas.openxmlformats.org/officeDocument/2006/relationships/slideLayout" Target="/ppt/slideLayouts/slideLayout1.xml" Id="R9182d7c2abb54a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82d7c2abb54a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7b75da97c4951" /><Relationship Type="http://schemas.openxmlformats.org/officeDocument/2006/relationships/image" Target="/ppt/media/image.jpeg" Id="R7cbf5a5656504c31" /><Relationship Type="http://schemas.openxmlformats.org/officeDocument/2006/relationships/notesSlide" Target="/ppt/notesSlides/notesSlide1.xml" Id="R46ed463a5cc842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d0f2e7d3cb418d" /><Relationship Type="http://schemas.openxmlformats.org/officeDocument/2006/relationships/notesSlide" Target="/ppt/notesSlides/notesSlide2.xml" Id="R61757404a85244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7f28640d841e3" /><Relationship Type="http://schemas.openxmlformats.org/officeDocument/2006/relationships/notesSlide" Target="/ppt/notesSlides/notesSlide3.xml" Id="R946a838cd42043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a49dd32a68417a" /><Relationship Type="http://schemas.openxmlformats.org/officeDocument/2006/relationships/notesSlide" Target="/ppt/notesSlides/notesSlide4.xml" Id="R4bbd2146051047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e7bcff07d4c0e" /><Relationship Type="http://schemas.openxmlformats.org/officeDocument/2006/relationships/notesSlide" Target="/ppt/notesSlides/notesSlide5.xml" Id="R7da4d76a84084d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9065a6b68481a" /><Relationship Type="http://schemas.openxmlformats.org/officeDocument/2006/relationships/notesSlide" Target="/ppt/notesSlides/notesSlide6.xml" Id="R03577fcd81f146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9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bf5a5656504c31"/>
          <a:srcRect xmlns:a="http://schemas.openxmlformats.org/drawingml/2006/main" l="23904" t="0" r="239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F9F3B-B60A-4F9E-8826-88828945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DC1D5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ADC1D5"/>
                </a:solidFill>
                <a:latin typeface="Heiti TC"/>
                <a:ea typeface="Heiti TC"/>
                <a:cs typeface="Heiti TC"/>
              </a:rPr>
              <a:t>M1 / 世界研究     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FDCFE0-6B5D-40B6-878B-FCDAC19A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4950" b="1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會下雨的</a:t>
            </a:r>
          </a:p>
          <a:p xmlns:a="http://schemas.openxmlformats.org/drawingml/2006/main">
            <a:pPr>
              <a:defRPr sz="4950" b="1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4950" b="1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漂浮花園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46B8C-D2D0-4D50-904A-17025C6E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86125"/>
            <a:ext cx="500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人類消失後 500 年</a:t>
            </a:r>
          </a:p>
          <a:p xmlns:a="http://schemas.openxmlformats.org/drawingml/2006/main">
            <a:pPr>
              <a:defRPr sz="217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法國多姆山的低層雲霧帶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62266-A994-41F8-A71F-69BCC2FA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4953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9C7D8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B9C7D8"/>
                </a:solidFill>
                <a:latin typeface="Heiti TC"/>
                <a:ea typeface="Heiti TC"/>
                <a:cs typeface="Heiti TC"/>
              </a:rPr>
              <a:t>最大的生存挑戰：</a:t>
            </a:r>
          </a:p>
          <a:p xmlns:a="http://schemas.openxmlformats.org/drawingml/2006/main">
            <a:pPr>
              <a:defRPr sz="2025" b="0">
                <a:solidFill>
                  <a:srgbClr val="B9C7D8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B9C7D8"/>
                </a:solidFill>
                <a:latin typeface="Heiti TC"/>
                <a:ea typeface="Heiti TC"/>
                <a:cs typeface="Heiti TC"/>
              </a:rPr>
              <a:t>棲地會隨雲滴蒸發</a:t>
            </a:r>
          </a:p>
          <a:p xmlns:a="http://schemas.openxmlformats.org/drawingml/2006/main">
            <a:pPr>
              <a:defRPr sz="2025" b="0">
                <a:solidFill>
                  <a:srgbClr val="B9C7D8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B9C7D8"/>
                </a:solidFill>
                <a:latin typeface="Heiti TC"/>
                <a:ea typeface="Heiti TC"/>
                <a:cs typeface="Heiti TC"/>
              </a:rPr>
              <a:t>或降雨而消失。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CC63D-1770-41AD-ADF4-8AFA5328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388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8A9BA"/>
                </a:solidFill>
                <a:latin typeface="Heiti TC"/>
                <a:ea typeface="Heiti TC"/>
                <a:cs typeface="Heiti TC"/>
              </a:defRPr>
            </a:pPr>
            <a:r>
              <a:rPr sz="1050" b="0">
                <a:solidFill>
                  <a:srgbClr val="98A9BA"/>
                </a:solidFill>
                <a:latin typeface="Heiti TC"/>
                <a:ea typeface="Heiti TC"/>
                <a:cs typeface="Heiti TC"/>
              </a:rPr>
              <a:t>雲景參考：NASA/JSC，北大西洋，非多姆山</a:t>
            </a:r>
          </a:p>
        </p:txBody>
      </p:sp>
    </p:spTree>
    <p:extLst>
      <p:ext uri="{BB962C8B-B14F-4D97-AF65-F5344CB8AC3E}">
        <p14:creationId xmlns:p14="http://schemas.microsoft.com/office/powerpoint/2010/main" val="6659508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FF0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6A9BD-A76B-4481-9B53-430BB343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M1 / 後未來動物園     時間與棲地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B5B09-C617-4304-8A4F-F7DAE24A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0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3900" b="0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花園可以離開原來的位置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31B719-0ACD-4A38-AD28-41FA92B8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ys  /  2026.10.01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569713-0284-483C-881B-57713754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722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B2C9BA-2888-41EF-8383-AE83FFF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162175"/>
            <a:ext cx="4381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「花園可能不在原處，</a:t>
            </a:r>
          </a:p>
          <a:p xmlns:a="http://schemas.openxmlformats.org/drawingml/2006/main">
            <a:pPr>
              <a:defRPr sz="2400" b="0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也可能會自由移動。」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86959-ED5A-47A7-84B1-37FAE163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76625"/>
            <a:ext cx="438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這是我選擇這個世界的原因。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EF28D-E9BD-44B4-8FB5-4504AE7E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72000"/>
            <a:ext cx="4333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5687E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55687E"/>
                </a:solidFill>
                <a:latin typeface="Heiti TC"/>
                <a:ea typeface="Heiti TC"/>
                <a:cs typeface="Heiti TC"/>
              </a:rPr>
              <a:t>透明薄膜、結晶</a:t>
            </a:r>
          </a:p>
          <a:p xmlns:a="http://schemas.openxmlformats.org/drawingml/2006/main">
            <a:pPr>
              <a:defRPr sz="2100" b="0">
                <a:solidFill>
                  <a:srgbClr val="55687E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55687E"/>
                </a:solidFill>
                <a:latin typeface="Heiti TC"/>
                <a:ea typeface="Heiti TC"/>
                <a:cs typeface="Heiti TC"/>
              </a:rPr>
              <a:t>漂浮、忽明忽暗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C2932B-A85F-4C01-9E45-68F1035B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24075"/>
            <a:ext cx="5667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時間｜500 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5E6464-D35F-4808-B6BE-D15E0AE0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71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敘事尺度，並非演化或氣候預測。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EDE3AF-F0A7-40E8-9680-28A0E2B6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62300"/>
            <a:ext cx="5667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棲地｜雲霧與山坡之間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E2E0FF-BB77-4C05-9455-A6E5F44F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09975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現有研究取樣站海拔 1465 m。[1][3]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607FE8-D149-48A2-9F31-976BAB7D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00525"/>
            <a:ext cx="5667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場景｜涼濕、會改變的雲水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43B78B-6631-4F55-AFD9-D6CC3123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展示設定 0–10°C；水與養分不穩定。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63CFD6-3FFF-466B-8A4E-4B3AA4A9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238750"/>
            <a:ext cx="5667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遺物｜地面的玻璃與陶瓷碎片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B8F3F3-FCE1-42A7-95B8-37557DC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686425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創作設定；不假定機器仍能運作。</a:t>
            </a:r>
          </a:p>
        </p:txBody>
      </p:sp>
    </p:spTree>
    <p:extLst>
      <p:ext uri="{BB962C8B-B14F-4D97-AF65-F5344CB8AC3E}">
        <p14:creationId xmlns:p14="http://schemas.microsoft.com/office/powerpoint/2010/main" val="15963012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19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2D4611-E058-4E05-80EB-F1EECE37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M1 / 後未來動物園     查證事實 01 /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A0607-471C-43D3-987C-E26FDB8D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3900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雲不是空的，卻也不是安穩的家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B5677-D70D-458A-9D3F-A8567091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ys  /  2026.10.01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6BD2D-78C3-4EC4-8733-FADBBD44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722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E3B43-15B9-4417-9AD3-A2F228EE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BED3E8"/>
                </a:solidFill>
                <a:latin typeface="Heiti TC"/>
                <a:ea typeface="Heiti TC"/>
                <a:cs typeface="Heiti TC"/>
              </a:defRPr>
            </a:pPr>
            <a:r>
              <a:rPr sz="2400" b="1">
                <a:solidFill>
                  <a:srgbClr val="BED3E8"/>
                </a:solidFill>
                <a:latin typeface="Heiti TC"/>
                <a:ea typeface="Heiti TC"/>
                <a:cs typeface="Heiti TC"/>
              </a:rPr>
              <a:t>01  雲水裡有活動跡象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C3525D-360E-47FB-B7DB-B8FF5752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43225"/>
            <a:ext cx="4933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多姆山雲水中的微生物，</a:t>
            </a:r>
          </a:p>
          <a:p xmlns:a="http://schemas.openxmlformats.org/drawingml/2006/main">
            <a:pPr>
              <a:defRPr sz="202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呈現支持活動的分子證據。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有 RNA ≠ 已證明持續繁殖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48BCC-3FF7-4188-BD71-7154A98C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4933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95A6B9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95A6B9"/>
                </a:solidFill>
                <a:latin typeface="Heiti TC"/>
                <a:ea typeface="Heiti TC"/>
                <a:cs typeface="Heiti TC"/>
              </a:rPr>
              <a:t>Amato et al., 2017 [1]</a:t>
            </a:r>
          </a:p>
          <a:p xmlns:a="http://schemas.openxmlformats.org/drawingml/2006/main">
            <a:pPr>
              <a:defRPr sz="1425" b="0">
                <a:solidFill>
                  <a:srgbClr val="95A6B9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95A6B9"/>
                </a:solidFill>
                <a:latin typeface="Heiti TC"/>
                <a:ea typeface="Heiti TC"/>
                <a:cs typeface="Heiti TC"/>
              </a:rPr>
              <a:t>獨立對照：Klein et al., 2016 [4]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1D7807-3ED2-46F2-910B-7BEBEBE7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BED3E8"/>
                </a:solidFill>
                <a:latin typeface="Heiti TC"/>
                <a:ea typeface="Heiti TC"/>
                <a:cs typeface="Heiti TC"/>
              </a:defRPr>
            </a:pPr>
            <a:r>
              <a:rPr sz="2400" b="1">
                <a:solidFill>
                  <a:srgbClr val="BED3E8"/>
                </a:solidFill>
                <a:latin typeface="Heiti TC"/>
                <a:ea typeface="Heiti TC"/>
                <a:cs typeface="Heiti TC"/>
              </a:rPr>
              <a:t>02  活著需要防護成本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355A0-4F83-4B69-9EFD-F766ABDD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43225"/>
            <a:ext cx="4933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研究找到抗氧化、耐冷與</a:t>
            </a:r>
          </a:p>
          <a:p xmlns:a="http://schemas.openxmlformats.org/drawingml/2006/main">
            <a:pPr>
              <a:defRPr sz="202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滲透條件調節的功能。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基因表現 ≠ 實際代謝速率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B9D6D-090F-4B63-A59B-C17B5DBD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048250"/>
            <a:ext cx="4933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95A6B9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95A6B9"/>
                </a:solidFill>
                <a:latin typeface="Heiti TC"/>
                <a:ea typeface="Heiti TC"/>
                <a:cs typeface="Heiti TC"/>
              </a:rPr>
              <a:t>Amato et al., 2019 [2]</a:t>
            </a:r>
          </a:p>
          <a:p xmlns:a="http://schemas.openxmlformats.org/drawingml/2006/main">
            <a:pPr>
              <a:defRPr sz="1425" b="0">
                <a:solidFill>
                  <a:srgbClr val="95A6B9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95A6B9"/>
                </a:solidFill>
                <a:latin typeface="Heiti TC"/>
                <a:ea typeface="Heiti TC"/>
                <a:cs typeface="Heiti TC"/>
              </a:rPr>
              <a:t>夜間樣本；不是大型漂浮生命的證據。</a:t>
            </a:r>
          </a:p>
        </p:txBody>
      </p:sp>
    </p:spTree>
    <p:extLst>
      <p:ext uri="{BB962C8B-B14F-4D97-AF65-F5344CB8AC3E}">
        <p14:creationId xmlns:p14="http://schemas.microsoft.com/office/powerpoint/2010/main" val="7669160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FF0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F5D666-106E-429B-9156-8D8615E7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M1 / 後未來動物園     查證事實 03 / 物理限制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7FFB4D-0C38-4633-A55F-16FDF4BB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0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3900" b="0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棲地會變質，也會落下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84E17-3713-4FA3-B851-F310A7B9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ys  /  2026.10.01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5AF609-F75F-40A9-AE4B-7EBCDD70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722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95537-E286-4B9E-BAEE-251E3FD0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5286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03  每一片雲，條件都不同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6AF30-A352-4DB5-AAB8-8AAB6065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5238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73 次雲事件、199 個樣本</a:t>
            </a:r>
          </a:p>
          <a:p xmlns:a="http://schemas.openxmlformats.org/drawingml/2006/main">
            <a:pPr>
              <a:defRPr sz="1875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氣團來源不同，酸鹼與離子也不同。</a:t>
            </a:r>
          </a:p>
          <a:p xmlns:a="http://schemas.openxmlformats.org/drawingml/2006/main">
            <a:pPr>
              <a:defRPr sz="1875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不能將現代污染數值搬到無人未來。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6CD56B-B9EB-4DAF-AF8C-A47C893D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Deguillaume et al., 2014 [3]</a:t>
            </a:r>
          </a:p>
          <a:p xmlns:a="http://schemas.openxmlformats.org/drawingml/2006/main">
            <a:pPr>
              <a:defRPr sz="1425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2001–2011 年多姆山監測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DC69E1-1901-4762-8968-6B16A2FD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171700"/>
            <a:ext cx="4667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475" b="1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凝結 → 聚合 → 降落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CA427-FBE8-469D-BD09-E34E8B3D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06705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雲滴合併長大後，可以形成降水。</a:t>
            </a:r>
          </a:p>
          <a:p xmlns:a="http://schemas.openxmlformats.org/drawingml/2006/main">
            <a:pPr>
              <a:defRPr sz="1950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水回到天空的循環，</a:t>
            </a:r>
          </a:p>
          <a:p xmlns:a="http://schemas.openxmlformats.org/drawingml/2006/main">
            <a:pPr>
              <a:defRPr sz="1950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不等於生命也能自動回去。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A1D94-9A15-4C51-8743-6DE97DCD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019675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Met Office：The water cycle [5]</a:t>
            </a:r>
          </a:p>
          <a:p xmlns:a="http://schemas.openxmlformats.org/drawingml/2006/main">
            <a:pPr>
              <a:defRPr sz="1425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氣膠存活限制：Amato et al., 2015 [7]</a:t>
            </a:r>
          </a:p>
        </p:txBody>
      </p:sp>
    </p:spTree>
    <p:extLst>
      <p:ext uri="{BB962C8B-B14F-4D97-AF65-F5344CB8AC3E}">
        <p14:creationId xmlns:p14="http://schemas.microsoft.com/office/powerpoint/2010/main" val="11621986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19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C86256-9445-4C05-9ABD-BC59FC63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M1 / 後未來動物園     未來生命的可能性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8C1AC8-4CB1-42C7-9AAF-266C7635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3900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先定世界的規則，再決定生命的樣子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9119E-89F1-42B1-BE7F-4D939243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ys  /  2026.10.01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4F0C5-8A25-444F-A07F-7DE03830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722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0702C-F7B1-4B1C-83C3-CD57314C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A8BDD2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A8BDD2"/>
                </a:solidFill>
                <a:latin typeface="Heiti TC"/>
                <a:ea typeface="Heiti TC"/>
                <a:cs typeface="Heiti TC"/>
              </a:rPr>
              <a:t>生存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6B989D-C247-41EC-93BC-23E99A4F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33623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400" b="1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水分窗口有限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2ECFA1-9247-4B95-A67D-E0D95AE2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33623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溶解有機物是研究起點；</a:t>
            </a:r>
          </a:p>
          <a:p xmlns:a="http://schemas.openxmlformats.org/drawingml/2006/main">
            <a:pPr>
              <a:defRPr sz="187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風是運輸方式，不是食物。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0C8B53-8D0D-455E-96B9-4C5EB3A2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050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A8BDD2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A8BDD2"/>
                </a:solidFill>
                <a:latin typeface="Heiti TC"/>
                <a:ea typeface="Heiti TC"/>
                <a:cs typeface="Heiti TC"/>
              </a:rPr>
              <a:t>棲息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A94DB-127C-4E8B-B9F3-1B4F07F6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62275"/>
            <a:ext cx="33623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400" b="1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聚合與分散的取捨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F77ADB-D32B-4F05-A93E-14886715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71900"/>
            <a:ext cx="33623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聚集可能提供防護，</a:t>
            </a:r>
          </a:p>
          <a:p xmlns:a="http://schemas.openxmlformats.org/drawingml/2006/main">
            <a:pPr>
              <a:defRPr sz="187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也可能增加沉降與資源競爭。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9DD039-6D01-4CC6-AE9D-45692948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A8BDD2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A8BDD2"/>
                </a:solidFill>
                <a:latin typeface="Heiti TC"/>
                <a:ea typeface="Heiti TC"/>
                <a:cs typeface="Heiti TC"/>
              </a:rPr>
              <a:t>繁殖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8F81FA-E94D-4B8E-A6F2-840BEC51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62275"/>
            <a:ext cx="33623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2400" b="1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時機比數量更重要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57FB5B-6D44-4B99-8FAE-17F87C03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71900"/>
            <a:ext cx="33623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快增殖或投入耐受階段？</a:t>
            </a:r>
          </a:p>
          <a:p xmlns:a="http://schemas.openxmlformats.org/drawingml/2006/main">
            <a:pPr>
              <a:defRPr sz="1875" b="0">
                <a:solidFill>
                  <a:srgbClr val="E9EDF1"/>
                </a:solidFill>
                <a:latin typeface="Heiti TC"/>
                <a:ea typeface="Heiti TC"/>
                <a:cs typeface="Heiti TC"/>
              </a:defRPr>
            </a:pPr>
            <a:r>
              <a:rPr sz="1875" b="0">
                <a:solidFill>
                  <a:srgbClr val="E9EDF1"/>
                </a:solidFill>
                <a:latin typeface="Heiti TC"/>
                <a:ea typeface="Heiti TC"/>
                <a:cs typeface="Heiti TC"/>
              </a:rPr>
              <a:t>保留到 M2 研究與選擇。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A1F4CE-292A-42BE-A8A5-9B6D2E58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3877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BDD2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A8BDD2"/>
                </a:solidFill>
                <a:latin typeface="Heiti TC"/>
                <a:ea typeface="Heiti TC"/>
                <a:cs typeface="Heiti TC"/>
              </a:rPr>
              <a:t>創作設定｜整座花園的自由漂移仍待交代物理機制；本階段不鎖定物種。</a:t>
            </a:r>
          </a:p>
        </p:txBody>
      </p:sp>
    </p:spTree>
    <p:extLst>
      <p:ext uri="{BB962C8B-B14F-4D97-AF65-F5344CB8AC3E}">
        <p14:creationId xmlns:p14="http://schemas.microsoft.com/office/powerpoint/2010/main" val="21225641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FF0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EED80-75F6-432D-8B84-1E7ED0E1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M1 / 後未來動物園     查證與下一步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32D37-0F38-4673-B1EF-36BE2359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0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3900" b="0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讓想像更自由，也讓依據更清楚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50AB49-CDCF-4B32-9CB2-CBACD522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ys  /  2026.10.01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27D58-9C2E-4C1A-8616-A5E88A01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722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818F9F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818F9F"/>
                </a:solidFill>
                <a:latin typeface="Heiti TC"/>
                <a:ea typeface="Heiti TC"/>
                <a:cs typeface="Heiti TC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A4EF2-F659-4DA6-9982-348C49B2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066925"/>
            <a:ext cx="571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2325" b="1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卡點：微生物證據，能推多遠？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401A2-347F-44A0-8B18-E6A1A8CA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90825"/>
            <a:ext cx="57150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回原文讀取樣條件與研究限制，</a:t>
            </a:r>
          </a:p>
          <a:p xmlns:a="http://schemas.openxmlformats.org/drawingml/2006/main">
            <a:pPr>
              <a:defRPr sz="1950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再找獨立研究交叉對照。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仍需解決：漂浮尺度、能量收支、再入雲。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BA144-E02C-4C2F-A1AD-237FD1E8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67300"/>
            <a:ext cx="571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下一站：從「移動的棲地」出發，</a:t>
            </a:r>
          </a:p>
          <a:p xmlns:a="http://schemas.openxmlformats.org/drawingml/2006/main">
            <a:pPr>
              <a:defRPr sz="1950" b="0">
                <a:solidFill>
                  <a:srgbClr val="3D4F61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3D4F61"/>
                </a:solidFill>
                <a:latin typeface="Heiti TC"/>
                <a:ea typeface="Heiti TC"/>
                <a:cs typeface="Heiti TC"/>
              </a:rPr>
              <a:t>探索保護層、聚散與墜落。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894A21-AB03-4F55-9AFD-E4A534D2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66925"/>
            <a:ext cx="4419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5303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25303B"/>
                </a:solidFill>
                <a:latin typeface="Heiti TC"/>
                <a:ea typeface="Heiti TC"/>
                <a:cs typeface="Heiti TC"/>
              </a:rPr>
              <a:t>主要來源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A0134-35F8-4BF8-8C26-C36DE094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71750"/>
            <a:ext cx="44196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[1] Amato et al. 2017 · PLOS ONE</a:t>
            </a:r>
          </a:p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10.1371/journal.pone.0182869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FEBA2A-B3E3-45EF-820E-BDA29346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09925"/>
            <a:ext cx="44196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[2] Amato et al. 2019 · Sci. Rep.</a:t>
            </a:r>
          </a:p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10.1038/s41598-019-41032-4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92B84-2851-4D2A-8B6B-57BDC3BA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48100"/>
            <a:ext cx="44196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[3] Deguillaume et al. 2014 · ACP</a:t>
            </a:r>
          </a:p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10.5194/acp-14-1485-2014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9117F-7BE6-4EE6-BB76-09E6F73B8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86275"/>
            <a:ext cx="44196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[4] Klein et al. 2016 · Front. Microbiol.</a:t>
            </a:r>
          </a:p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10.3389/fmicb.2016.00772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61B24-7B49-4B64-A9BD-1DD1098B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24450"/>
            <a:ext cx="44196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[5] Met Office · The water cycle</a:t>
            </a:r>
          </a:p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[7] Amato et al. 2015 · ACP</a:t>
            </a:r>
          </a:p>
          <a:p xmlns:a="http://schemas.openxmlformats.org/drawingml/2006/main">
            <a:pPr>
              <a:defRPr sz="1350" b="0">
                <a:solidFill>
                  <a:srgbClr val="657282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657282"/>
                </a:solidFill>
                <a:latin typeface="Heiti TC"/>
                <a:ea typeface="Heiti TC"/>
                <a:cs typeface="Heiti TC"/>
              </a:rPr>
              <a:t>10.5194/acp-15-6455-2015</a:t>
            </a:r>
          </a:p>
        </p:txBody>
      </p:sp>
    </p:spTree>
    <p:extLst>
      <p:ext uri="{BB962C8B-B14F-4D97-AF65-F5344CB8AC3E}">
        <p14:creationId xmlns:p14="http://schemas.microsoft.com/office/powerpoint/2010/main" val="17957945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2026-09-24T17:02:51.6710000Z</dcterms:created>
  <dcterms:modified xsi:type="dcterms:W3CDTF">2026-09-24T17:02:51.6710000Z</dcterms:modified>
</coreProperties>
</file>