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3e1fe0c80497d" /><Relationship Type="http://schemas.openxmlformats.org/officeDocument/2006/relationships/extended-properties" Target="/docProps/app.xml" Id="Raafdbfbb07184aa9" /><Relationship Type="http://schemas.openxmlformats.org/officeDocument/2006/relationships/officeDocument" Target="/ppt/presentation.xml" Id="R3c3580177e68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62a92fe5a84b40"/>
  </p:sldMasterIdLst>
  <p:notesMasterIdLst>
    <p:notesMasterId xmlns:r="http://schemas.openxmlformats.org/officeDocument/2006/relationships" r:id="R746d2e414c50496d"/>
  </p:notesMasterIdLst>
  <p:sldIdLst>
    <p:sldId xmlns:r="http://schemas.openxmlformats.org/officeDocument/2006/relationships" id="256" r:id="R15be95160a3040a1"/>
    <p:sldId xmlns:r="http://schemas.openxmlformats.org/officeDocument/2006/relationships" id="257" r:id="R5257b14bc4234207"/>
    <p:sldId xmlns:r="http://schemas.openxmlformats.org/officeDocument/2006/relationships" id="258" r:id="R83a4b59795a14e5e"/>
    <p:sldId xmlns:r="http://schemas.openxmlformats.org/officeDocument/2006/relationships" id="259" r:id="R94ccf7cd9d9647a2"/>
    <p:sldId xmlns:r="http://schemas.openxmlformats.org/officeDocument/2006/relationships" id="260" r:id="R9fa035c3878c49f3"/>
    <p:sldId xmlns:r="http://schemas.openxmlformats.org/officeDocument/2006/relationships" id="261" r:id="Rbeec69eef6954d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df3ad9e224864" /><Relationship Type="http://schemas.openxmlformats.org/officeDocument/2006/relationships/slideMaster" Target="/ppt/slideMasters/slideMaster1.xml" Id="R8862a92fe5a84b40" /><Relationship Type="http://schemas.openxmlformats.org/officeDocument/2006/relationships/notesMaster" Target="/ppt/notesMasters/notesMaster1.xml" Id="R746d2e414c50496d" /><Relationship Type="http://schemas.openxmlformats.org/officeDocument/2006/relationships/presProps" Target="/ppt/presProps.xml" Id="R2ec15c4c7f244ad2" /><Relationship Type="http://schemas.openxmlformats.org/officeDocument/2006/relationships/tableStyles" Target="/ppt/tableStyles.xml" Id="R8b56549aa207462a" /><Relationship Type="http://schemas.openxmlformats.org/officeDocument/2006/relationships/slide" Target="/ppt/slides/slide1.xml" Id="R15be95160a3040a1" /><Relationship Type="http://schemas.openxmlformats.org/officeDocument/2006/relationships/slide" Target="/ppt/slides/slide2.xml" Id="R5257b14bc4234207" /><Relationship Type="http://schemas.openxmlformats.org/officeDocument/2006/relationships/slide" Target="/ppt/slides/slide3.xml" Id="R83a4b59795a14e5e" /><Relationship Type="http://schemas.openxmlformats.org/officeDocument/2006/relationships/slide" Target="/ppt/slides/slide4.xml" Id="R94ccf7cd9d9647a2" /><Relationship Type="http://schemas.openxmlformats.org/officeDocument/2006/relationships/slide" Target="/ppt/slides/slide5.xml" Id="R9fa035c3878c49f3" /><Relationship Type="http://schemas.openxmlformats.org/officeDocument/2006/relationships/slide" Target="/ppt/slides/slide6.xml" Id="Rbeec69eef695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bd70e3370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894bace5747fb" /><Relationship Type="http://schemas.openxmlformats.org/officeDocument/2006/relationships/notesMaster" Target="/ppt/notesMasters/notesMaster1.xml" Id="R01fb453f26ec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185381935d4584" /><Relationship Type="http://schemas.openxmlformats.org/officeDocument/2006/relationships/notesMaster" Target="/ppt/notesMasters/notesMaster1.xml" Id="R19fecd6eebf5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57fb7083446ad" /><Relationship Type="http://schemas.openxmlformats.org/officeDocument/2006/relationships/notesMaster" Target="/ppt/notesMasters/notesMaster1.xml" Id="R0aafcb03f8bf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ec3bcccc4c4341" /><Relationship Type="http://schemas.openxmlformats.org/officeDocument/2006/relationships/notesMaster" Target="/ppt/notesMasters/notesMaster1.xml" Id="Rfe559c3066224d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ea9c3c5b0940d4" /><Relationship Type="http://schemas.openxmlformats.org/officeDocument/2006/relationships/notesMaster" Target="/ppt/notesMasters/notesMaster1.xml" Id="Ra624eb6a3978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db70ac382b46c9" /><Relationship Type="http://schemas.openxmlformats.org/officeDocument/2006/relationships/notesMaster" Target="/ppt/notesMasters/notesMaster1.xml" Id="R10b0d1f5b924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研究來源：https://acp.copernicus.org/articles/7/4159/2007/</a:t>
            </a:r>
          </a:p>
          <a:p xmlns:a="http://schemas.openxmlformats.org/drawingml/2006/main">
            <a:r>
              <a:t>https://biology.mcgill.ca/faculty/bell/articles/25.BellWolfe_1985_CanJZool63.pdf</a:t>
            </a:r>
          </a:p>
          <a:p xmlns:a="http://schemas.openxmlformats.org/drawingml/2006/main">
            <a:r>
              <a:t>https://www.nature.com/articles/s41598-019-41032-4</a:t>
            </a:r>
          </a:p>
          <a:p xmlns:a="http://schemas.openxmlformats.org/drawingml/2006/main">
            <a:r>
              <a:t>https://acp.copernicus.org/articles/15/6455/2015/</a:t>
            </a:r>
          </a:p>
          <a:p xmlns:a="http://schemas.openxmlformats.org/drawingml/2006/main">
            <a:r>
              <a:t>圖片：本作品 p5.js 實際執行截圖。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9c3a6ee074f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7858cf612048c4" /><Relationship Type="http://schemas.openxmlformats.org/officeDocument/2006/relationships/slideLayout" Target="/ppt/slideLayouts/slideLayout1.xml" Id="Rf2a33a803e8c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33a803e8c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6035225d346cd" /><Relationship Type="http://schemas.openxmlformats.org/officeDocument/2006/relationships/image" Target="/ppt/media/image.jpeg" Id="R653b9402de6c466e" /><Relationship Type="http://schemas.openxmlformats.org/officeDocument/2006/relationships/notesSlide" Target="/ppt/notesSlides/notesSlide1.xml" Id="Re045ca7dd806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8523f93a84a1e" /><Relationship Type="http://schemas.openxmlformats.org/officeDocument/2006/relationships/notesSlide" Target="/ppt/notesSlides/notesSlide2.xml" Id="R359818b0a5a44a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7b33e6c28456c" /><Relationship Type="http://schemas.openxmlformats.org/officeDocument/2006/relationships/notesSlide" Target="/ppt/notesSlides/notesSlide3.xml" Id="R89bef64dc197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ca17b2b744273" /><Relationship Type="http://schemas.openxmlformats.org/officeDocument/2006/relationships/notesSlide" Target="/ppt/notesSlides/notesSlide4.xml" Id="R542b12148b4a49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ce760c276413f" /><Relationship Type="http://schemas.openxmlformats.org/officeDocument/2006/relationships/image" Target="/ppt/media/image2.jpeg" Id="R00233d1c37e249cf" /><Relationship Type="http://schemas.openxmlformats.org/officeDocument/2006/relationships/notesSlide" Target="/ppt/notesSlides/notesSlide5.xml" Id="R6c5e1ade2ea842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e606e4bc4d83" /><Relationship Type="http://schemas.openxmlformats.org/officeDocument/2006/relationships/notesSlide" Target="/ppt/notesSlides/notesSlide6.xml" Id="R89e83e24572f43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CC443-B5B3-4A17-B3A3-27448FA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585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霧晶囊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0010F-3F36-479C-8A5B-A100741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會下雨的漂浮花園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C43F0-74DF-42FE-8953-F9E17759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透明膜囊 · 結晶薄瓣 · 聚散的生命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b9402de6c466e"/>
          <a:stretch xmlns:a="http://schemas.openxmlformats.org/drawingml/2006/main"/>
        </p:blipFill>
        <p:spPr>
          <a:xfrm xmlns:a="http://schemas.openxmlformats.org/drawingml/2006/main">
            <a:off x="7048500" y="1154244"/>
            <a:ext cx="4238625" cy="420661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B3500-0D44-43FA-84BF-7C71182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01</a:t>
            </a:r>
          </a:p>
        </p:txBody>
      </p:sp>
    </p:spTree>
    <p:extLst>
      <p:ext uri="{BB962C8B-B14F-4D97-AF65-F5344CB8AC3E}">
        <p14:creationId xmlns:p14="http://schemas.microsoft.com/office/powerpoint/2010/main" val="16344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7C5D-AAEB-446A-9C16-3E29D6F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牠們一起成為花園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A0D6-ECFF-49A5-B824-F4A01C7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7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人類消失後 500 年</a:t>
            </a:r>
          </a:p>
          <a:p xmlns:a="http://schemas.openxmlformats.org/drawingml/2006/main">
            <a:pPr>
              <a:defRPr sz="27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7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法國多姆山的低層雲霧帶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1E348-09FA-43C1-BDE2-0FD915E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花園可以離開原來的位置，隨風與雲移動。</a:t>
            </a:r>
          </a:p>
          <a:p xmlns:a="http://schemas.openxmlformats.org/drawingml/2006/main">
            <a:pPr>
              <a:defRPr sz="21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水霧讓個體展開；雨讓花園變重、散開與下沉。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DDDF-67D8-4642-A9FF-A949C58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我把三個方向放在一起：膜囊是身體，晶瓣是外形，</a:t>
            </a:r>
          </a:p>
          <a:p xmlns:a="http://schemas.openxmlformats.org/drawingml/2006/main">
            <a:pPr>
              <a:defRPr sz="18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雲群則是許多個體靠近後形成的花園。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4A27E-24F7-4D4D-887A-EE35156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2028106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590FC-5B8D-4F4D-A53D-FEA5C81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霧晶囊的五個設定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E732-0BDB-45D0-98E7-C4CC22D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型態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ECE2B-7762-4E36-B6DB-1F9057C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19275"/>
            <a:ext cx="909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透明膜囊與五片晶瓣，遇水展開、乾燥收攏。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76244-EC31-4D44-92EB-E8947C7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代謝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46FD3-288A-49BF-8768-97820B65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38425"/>
            <a:ext cx="909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利用水霧中的溶解有機物；風負責搬運。[1]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6C27A-C7CF-4D99-BB5D-C65D834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繁衍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51F65-B748-470A-9718-4A03E2FB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57575"/>
            <a:ext cx="909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資源充足時出芽，母體耗掉部分水與能量。[2]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153BD-2345-41F4-89CE-BCAB2F1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行為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511DD-779B-4E55-BE60-7E2A010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909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靠近水霧、短暫聚集，受擾散開，飽水下沉。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517DA-BA00-4E69-97D9-66C8E418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威脅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E399F-E5C8-43DD-9913-E4AD31BC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909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乾燥與缺乏補給；低溫、氧化也是壓力。[3][4]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B7AED-69B3-4B79-8E06-8F696B9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03</a:t>
            </a:r>
          </a:p>
        </p:txBody>
      </p:sp>
    </p:spTree>
    <p:extLst>
      <p:ext uri="{BB962C8B-B14F-4D97-AF65-F5344CB8AC3E}">
        <p14:creationId xmlns:p14="http://schemas.microsoft.com/office/powerpoint/2010/main" val="100372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30CC8-8AE8-4A6F-87FF-66C810FE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食物與下一個生命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57238-4BFB-45B2-B2D2-769F5AA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雲水也有可利用的有機物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8E8A-CA64-46CF-ABEE-1991E31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研究測試雲水來源的菌株，</a:t>
            </a:r>
          </a:p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發現牠們能轉化不同有機碳化合物。</a:t>
            </a:r>
          </a:p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所以我讓水霧代表水與養分的機會。[1]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94B52-5A8F-404F-84D8-55A2C5B7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D5C5ED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D5C5ED"/>
                </a:solidFill>
                <a:latin typeface="Heiti TC"/>
                <a:ea typeface="Heiti TC"/>
                <a:cs typeface="Heiti TC"/>
              </a:rPr>
              <a:t>出芽會消耗母體的資源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D2F43-1441-4B31-863D-44DB8468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水螅能以出芽產生子代。[2]</a:t>
            </a:r>
          </a:p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霧晶囊借用這種策略，</a:t>
            </a:r>
          </a:p>
          <a:p xmlns:a="http://schemas.openxmlformats.org/drawingml/2006/main">
            <a:pPr>
              <a:defRPr sz="20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等水分與能量足夠再長出小個體。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481FF-7DAD-4FFE-8502-7CD826C9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風帶來移動；水提供環境，有機物才是代謝方向。</a:t>
            </a:r>
          </a:p>
          <a:p xmlns:a="http://schemas.openxmlformats.org/drawingml/2006/main">
            <a:pPr>
              <a:defRPr sz="1800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真實水螅生活在淡水，這裡借用繁殖方式作為類比。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E3267-82A7-410D-ACC1-C3DDF23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04</a:t>
            </a:r>
          </a:p>
        </p:txBody>
      </p:sp>
    </p:spTree>
    <p:extLst>
      <p:ext uri="{BB962C8B-B14F-4D97-AF65-F5344CB8AC3E}">
        <p14:creationId xmlns:p14="http://schemas.microsoft.com/office/powerpoint/2010/main" val="288325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80234-FAF4-45E6-81E2-202DB845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讓花園回應觀眾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BEA62-AD5B-465B-9513-6E4651E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水霧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30FA9-CEDC-4AED-BF9E-B822249C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移動游標：靠近、吸水、展開晶瓣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0D63-0B6D-4FC3-B273-B4DB7A5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C5ED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5C5ED"/>
                </a:solidFill>
                <a:latin typeface="Heiti TC"/>
                <a:ea typeface="Heiti TC"/>
                <a:cs typeface="Heiti TC"/>
              </a:rPr>
              <a:t>波紋與旋風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D18B9-9733-4C69-A0D1-C579A88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542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點一下讓牠們散開；旋風帶著牠們繞行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9B2D-F74B-4BDB-811E-F7EDD94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降雨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DE3A9-2FAE-493B-9FE6-5465363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飽水後下沉，資源充足時萌生小個體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33d1c37e249cf"/>
          <a:stretch xmlns:a="http://schemas.openxmlformats.org/drawingml/2006/main"/>
        </p:blipFill>
        <p:spPr>
          <a:xfrm xmlns:a="http://schemas.openxmlformats.org/drawingml/2006/main">
            <a:off x="7191375" y="1848850"/>
            <a:ext cx="4048125" cy="4017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8E211-93A6-4108-836F-EC87568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05</a:t>
            </a:r>
          </a:p>
        </p:txBody>
      </p:sp>
    </p:spTree>
    <p:extLst>
      <p:ext uri="{BB962C8B-B14F-4D97-AF65-F5344CB8AC3E}">
        <p14:creationId xmlns:p14="http://schemas.microsoft.com/office/powerpoint/2010/main" val="600897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C3743-022C-4096-9A61-8A5B998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3600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把聚散發展成習性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37D1C-9D2B-4048-8392-BA2E6F4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現在，花園會呼吸、聚集、散開與下沉。</a:t>
            </a:r>
          </a:p>
          <a:p xmlns:a="http://schemas.openxmlformats.org/drawingml/2006/main">
            <a:pPr>
              <a:defRPr sz="26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接著可以讓牠們記住水霧出現過的位置，</a:t>
            </a:r>
          </a:p>
          <a:p xmlns:a="http://schemas.openxmlformats.org/drawingml/2006/main">
            <a:pPr>
              <a:defRPr sz="2625" b="0">
                <a:solidFill>
                  <a:srgbClr val="E8EDF4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E8EDF4"/>
                </a:solidFill>
                <a:latin typeface="Heiti TC"/>
                <a:ea typeface="Heiti TC"/>
                <a:cs typeface="Heiti TC"/>
              </a:rPr>
              <a:t>也讓幼體與成體有不同的移動節奏。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0FB53-08DA-407E-86A9-F3C9963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D8D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B7D8DE"/>
                </a:solidFill>
                <a:latin typeface="Heiti TC"/>
                <a:ea typeface="Heiti TC"/>
                <a:cs typeface="Heiti TC"/>
              </a:rPr>
              <a:t>主要參照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3C03-B063-45D9-A9DC-A54B90A7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76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3D4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B6C3D4"/>
                </a:solidFill>
                <a:latin typeface="Heiti TC"/>
                <a:ea typeface="Heiti TC"/>
                <a:cs typeface="Heiti TC"/>
              </a:rPr>
              <a:t>[1] Amato et al., 2007 · 雲水有機物轉化（ACP）</a:t>
            </a:r>
          </a:p>
          <a:p xmlns:a="http://schemas.openxmlformats.org/drawingml/2006/main">
            <a:pPr>
              <a:defRPr sz="1725" b="0">
                <a:solidFill>
                  <a:srgbClr val="B6C3D4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B6C3D4"/>
                </a:solidFill>
                <a:latin typeface="Heiti TC"/>
                <a:ea typeface="Heiti TC"/>
                <a:cs typeface="Heiti TC"/>
              </a:rPr>
              <a:t>[2] Bell &amp; Wolfe, 1985 · 水螅出芽與族群（Can. J. Zool.）</a:t>
            </a:r>
          </a:p>
          <a:p xmlns:a="http://schemas.openxmlformats.org/drawingml/2006/main">
            <a:pPr>
              <a:defRPr sz="1725" b="0">
                <a:solidFill>
                  <a:srgbClr val="B6C3D4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B6C3D4"/>
                </a:solidFill>
                <a:latin typeface="Heiti TC"/>
                <a:ea typeface="Heiti TC"/>
                <a:cs typeface="Heiti TC"/>
              </a:rPr>
              <a:t>[3] Amato et al., 2019 · 雲水微生物功能（Scientific Reports）</a:t>
            </a:r>
          </a:p>
          <a:p xmlns:a="http://schemas.openxmlformats.org/drawingml/2006/main">
            <a:pPr>
              <a:defRPr sz="1725" b="0">
                <a:solidFill>
                  <a:srgbClr val="B6C3D4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B6C3D4"/>
                </a:solidFill>
                <a:latin typeface="Heiti TC"/>
                <a:ea typeface="Heiti TC"/>
                <a:cs typeface="Heiti TC"/>
              </a:rPr>
              <a:t>[4] Amato et al., 2015 · 氣膠存活與冰核活性（ACP）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09972-3761-4E88-BED6-340578E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6B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91A6BC"/>
                </a:solidFill>
                <a:latin typeface="Heiti TC"/>
                <a:ea typeface="Heiti TC"/>
                <a:cs typeface="Heiti TC"/>
              </a:rPr>
              <a:t>ys / M2 物種                               06</a:t>
            </a:r>
          </a:p>
        </p:txBody>
      </p:sp>
    </p:spTree>
    <p:extLst>
      <p:ext uri="{BB962C8B-B14F-4D97-AF65-F5344CB8AC3E}">
        <p14:creationId xmlns:p14="http://schemas.microsoft.com/office/powerpoint/2010/main" val="1623846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2026-10-02T03:45:46.4100000Z</dcterms:created>
  <dcterms:modified xsi:type="dcterms:W3CDTF">2026-10-02T03:45:46.4100000Z</dcterms:modified>
</coreProperties>
</file>